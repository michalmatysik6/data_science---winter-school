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5143500" cx="9144000"/>
  <p:notesSz cx="6858000" cy="9144000"/>
  <p:embeddedFontLst>
    <p:embeddedFont>
      <p:font typeface="Montserrat"/>
      <p:regular r:id="rId59"/>
      <p:bold r:id="rId60"/>
      <p:italic r:id="rId61"/>
      <p:boldItalic r:id="rId62"/>
    </p:embeddedFont>
    <p:embeddedFont>
      <p:font typeface="Lato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Montserrat-boldItalic.fntdata"/><Relationship Id="rId61" Type="http://schemas.openxmlformats.org/officeDocument/2006/relationships/font" Target="fonts/Montserrat-italic.fntdata"/><Relationship Id="rId20" Type="http://schemas.openxmlformats.org/officeDocument/2006/relationships/slide" Target="slides/slide15.xml"/><Relationship Id="rId64" Type="http://schemas.openxmlformats.org/officeDocument/2006/relationships/font" Target="fonts/Lato-bold.fntdata"/><Relationship Id="rId63" Type="http://schemas.openxmlformats.org/officeDocument/2006/relationships/font" Target="fonts/Lato-regular.fntdata"/><Relationship Id="rId22" Type="http://schemas.openxmlformats.org/officeDocument/2006/relationships/slide" Target="slides/slide17.xml"/><Relationship Id="rId66" Type="http://schemas.openxmlformats.org/officeDocument/2006/relationships/font" Target="fonts/Lato-boldItalic.fntdata"/><Relationship Id="rId21" Type="http://schemas.openxmlformats.org/officeDocument/2006/relationships/slide" Target="slides/slide16.xml"/><Relationship Id="rId65" Type="http://schemas.openxmlformats.org/officeDocument/2006/relationships/font" Target="fonts/Lato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Montserrat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221dd8945361902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h221dd8945361902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221dd894536190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h221dd894536190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535bfde52eca90e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h535bfde52eca90e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535bfde52eca90e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h535bfde52eca90e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535bfde52eca90e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h535bfde52eca90e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5411059d6b637e80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h5411059d6b637e80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h535bfde52eca90e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h535bfde52eca90e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221dd8945361902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h221dd8945361902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221dd8945361902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h221dd8945361902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h535bfde52eca90e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h535bfde52eca90e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535bfde52eca90e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h535bfde52eca90e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h221dd8945361902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h221dd8945361902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535bfde52eca90e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h535bfde52eca90e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535bfde52eca90e1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h535bfde52eca90e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535bfde52eca90e1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h535bfde52eca90e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h535bfde52eca90e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h535bfde52eca90e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h535bfde52eca90e1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h535bfde52eca90e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535bfde52eca90e1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h535bfde52eca90e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h535bfde52eca90e1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h535bfde52eca90e1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h535bfde52eca90e1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h535bfde52eca90e1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h535bfde52eca90e1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h535bfde52eca90e1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h535bfde52eca90e1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h535bfde52eca90e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h221dd8945361902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h221dd8945361902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h7950dc0c7b1f540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h7950dc0c7b1f540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h7950dc0c7b1f540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h7950dc0c7b1f540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h7950dc0c7b1f540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h7950dc0c7b1f540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h535bfde52eca90e1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h535bfde52eca90e1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h535bfde52eca90e1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h535bfde52eca90e1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h535bfde52eca90e1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h535bfde52eca90e1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h535bfde52eca90e1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h535bfde52eca90e1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h535bfde52eca90e1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h535bfde52eca90e1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h535bfde52eca90e1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h535bfde52eca90e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h535bfde52eca90e1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h535bfde52eca90e1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h535bfde52eca90e1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h535bfde52eca90e1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535bfde52eca90e1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h535bfde52eca90e1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h535bfde52eca90e1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h535bfde52eca90e1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h221dd8945361902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h221dd8945361902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h7950dc0c7b1f540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h7950dc0c7b1f540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h221dd8945361902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h221dd8945361902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h7950dc0c7b1f540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h7950dc0c7b1f540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h535bfde52eca90e1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h535bfde52eca90e1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h535bfde52eca90e1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h535bfde52eca90e1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h7950dc0c7b1f540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h7950dc0c7b1f540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h535bfde52eca90e1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h535bfde52eca90e1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h221dd8945361902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h221dd8945361902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h221dd8945361902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h221dd8945361902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h4c0fdec63ed8043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h4c0fdec63ed8043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h1a45722e08c5051f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h1a45722e08c5051f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h221dd8945361902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h221dd8945361902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h4c0fdec63ed8043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h4c0fdec63ed8043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h4c0fdec63ed8043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h4c0fdec63ed8043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h6bdee2335d42c33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h6bdee2335d42c33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hyperlink" Target="https://www.kaggle.com/datasets/zeyadmohamed26/netflix-customer-churn-and-engagement-analytics/data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5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Relationship Id="rId4" Type="http://schemas.openxmlformats.org/officeDocument/2006/relationships/image" Target="../media/image4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2.png"/><Relationship Id="rId4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Relationship Id="rId4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png"/><Relationship Id="rId4" Type="http://schemas.openxmlformats.org/officeDocument/2006/relationships/image" Target="../media/image4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3.png"/><Relationship Id="rId4" Type="http://schemas.openxmlformats.org/officeDocument/2006/relationships/image" Target="../media/image4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2.png"/><Relationship Id="rId4" Type="http://schemas.openxmlformats.org/officeDocument/2006/relationships/image" Target="../media/image42.png"/><Relationship Id="rId5" Type="http://schemas.openxmlformats.org/officeDocument/2006/relationships/image" Target="../media/image5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3.png"/><Relationship Id="rId4" Type="http://schemas.openxmlformats.org/officeDocument/2006/relationships/image" Target="../media/image4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5.png"/><Relationship Id="rId4" Type="http://schemas.openxmlformats.org/officeDocument/2006/relationships/image" Target="../media/image5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5.png"/><Relationship Id="rId4" Type="http://schemas.openxmlformats.org/officeDocument/2006/relationships/image" Target="../media/image7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6.png"/><Relationship Id="rId4" Type="http://schemas.openxmlformats.org/officeDocument/2006/relationships/image" Target="../media/image6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3.png"/><Relationship Id="rId4" Type="http://schemas.openxmlformats.org/officeDocument/2006/relationships/image" Target="../media/image71.png"/><Relationship Id="rId5" Type="http://schemas.openxmlformats.org/officeDocument/2006/relationships/image" Target="../media/image5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4.png"/><Relationship Id="rId4" Type="http://schemas.openxmlformats.org/officeDocument/2006/relationships/image" Target="../media/image7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9.png"/><Relationship Id="rId4" Type="http://schemas.openxmlformats.org/officeDocument/2006/relationships/image" Target="../media/image6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s://github.com/michalmatysik6/Data_Science---Winter-school" TargetMode="External"/><Relationship Id="rId4" Type="http://schemas.openxmlformats.org/officeDocument/2006/relationships/hyperlink" Target="https://www.kaggle.com/datasets/zeyadmohamed26/netflix-customer-churn-and-engagement-analytics/dat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332150" y="1590475"/>
            <a:ext cx="5017500" cy="8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l"/>
              <a:t>Project report</a:t>
            </a:r>
            <a:endParaRPr b="1" i="1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6701100" y="3868950"/>
            <a:ext cx="2442900" cy="11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000"/>
              <a:t>Authors:</a:t>
            </a:r>
            <a:br>
              <a:rPr lang="pl" sz="2000"/>
            </a:br>
            <a:r>
              <a:rPr lang="pl" sz="2000"/>
              <a:t>Michał Matysik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000"/>
              <a:t>Daniil Solodylov</a:t>
            </a:r>
            <a:endParaRPr sz="2000"/>
          </a:p>
        </p:txBody>
      </p:sp>
      <p:sp>
        <p:nvSpPr>
          <p:cNvPr id="136" name="Google Shape;136;p13"/>
          <p:cNvSpPr txBox="1"/>
          <p:nvPr>
            <p:ph type="ctrTitle"/>
          </p:nvPr>
        </p:nvSpPr>
        <p:spPr>
          <a:xfrm>
            <a:off x="3447925" y="2321225"/>
            <a:ext cx="5398500" cy="123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800"/>
              <a:t>Analysis of “Netflix Customer Churn &amp; Engagement Analytics” Dataset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Content</a:t>
            </a:r>
            <a:endParaRPr b="1" sz="3200"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l" sz="2400"/>
              <a:t>Data Preparation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l" sz="2400"/>
              <a:t>Descriptive Statistics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l" sz="2400"/>
              <a:t>Hypothesis Testing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l" sz="2400"/>
              <a:t>Predictive Modeling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l" sz="2400"/>
              <a:t>Decision Trees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l" sz="2400"/>
              <a:t>K-Means &amp; K-Medoids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l" sz="4200"/>
              <a:t>Dataset Description</a:t>
            </a:r>
            <a:endParaRPr b="1" i="1" sz="4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Selected Dataset</a:t>
            </a:r>
            <a:endParaRPr b="1" sz="3200"/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3005" y="2090668"/>
            <a:ext cx="7102889" cy="131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3905" y="1307843"/>
            <a:ext cx="1468000" cy="63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0705" y="3706068"/>
            <a:ext cx="7727500" cy="54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>
            <p:ph idx="1" type="body"/>
          </p:nvPr>
        </p:nvSpPr>
        <p:spPr>
          <a:xfrm>
            <a:off x="618250" y="4500000"/>
            <a:ext cx="8192400" cy="2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/>
              <a:t>&lt; </a:t>
            </a:r>
            <a:r>
              <a:rPr lang="pl" sz="1200"/>
              <a:t>Link : </a:t>
            </a:r>
            <a:r>
              <a:rPr lang="pl" sz="1200" u="sng">
                <a:solidFill>
                  <a:schemeClr val="hlink"/>
                </a:solidFill>
                <a:hlinkClick r:id="rId6"/>
              </a:rPr>
              <a:t>https://www.kaggle.com/datasets/zeyadmohamed26/netflix-customer-churn-and-engagement-analytics/data</a:t>
            </a:r>
            <a:r>
              <a:rPr lang="pl" sz="1200"/>
              <a:t> &gt;</a:t>
            </a:r>
            <a:endParaRPr sz="12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Attributes Description </a:t>
            </a:r>
            <a:r>
              <a:rPr i="1" lang="pl" sz="3000"/>
              <a:t>(Part 1)</a:t>
            </a:r>
            <a:endParaRPr i="1" sz="3000"/>
          </a:p>
        </p:txBody>
      </p:sp>
      <p:pic>
        <p:nvPicPr>
          <p:cNvPr id="162" name="Google Shape;16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423625"/>
            <a:ext cx="6266852" cy="353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Attributes Description </a:t>
            </a:r>
            <a:r>
              <a:rPr i="1" lang="pl" sz="3000"/>
              <a:t>(Part 2)</a:t>
            </a:r>
            <a:endParaRPr b="1" sz="3200"/>
          </a:p>
        </p:txBody>
      </p:sp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3812" y="1430500"/>
            <a:ext cx="6916375" cy="340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Entries Showcase</a:t>
            </a:r>
            <a:endParaRPr b="1" sz="3200"/>
          </a:p>
        </p:txBody>
      </p:sp>
      <p:pic>
        <p:nvPicPr>
          <p:cNvPr id="174" name="Google Shape;17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475" y="1605012"/>
            <a:ext cx="8249726" cy="149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6650" y="3258650"/>
            <a:ext cx="5163651" cy="139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Dataset dimensions</a:t>
            </a:r>
            <a:endParaRPr b="1" sz="3200"/>
          </a:p>
        </p:txBody>
      </p:sp>
      <p:pic>
        <p:nvPicPr>
          <p:cNvPr id="181" name="Google Shape;18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9375" y="1307850"/>
            <a:ext cx="3585246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type="ctrTitle"/>
          </p:nvPr>
        </p:nvSpPr>
        <p:spPr>
          <a:xfrm>
            <a:off x="3537150" y="1578400"/>
            <a:ext cx="5235900" cy="15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l" sz="4200"/>
              <a:t>Data Preparation</a:t>
            </a:r>
            <a:endParaRPr b="1" i="1" sz="4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Attributes pruning</a:t>
            </a:r>
            <a:endParaRPr b="1" sz="3200"/>
          </a:p>
        </p:txBody>
      </p:sp>
      <p:pic>
        <p:nvPicPr>
          <p:cNvPr id="192" name="Google Shape;19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925" y="2012400"/>
            <a:ext cx="8396148" cy="172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type="title"/>
          </p:nvPr>
        </p:nvSpPr>
        <p:spPr>
          <a:xfrm>
            <a:off x="1297500" y="393750"/>
            <a:ext cx="7038900" cy="12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Checking Missing Values and Duplicates</a:t>
            </a:r>
            <a:endParaRPr b="1" sz="3200"/>
          </a:p>
        </p:txBody>
      </p:sp>
      <p:pic>
        <p:nvPicPr>
          <p:cNvPr id="198" name="Google Shape;19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475" y="1820500"/>
            <a:ext cx="3994274" cy="24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3"/>
          <p:cNvPicPr preferRelativeResize="0"/>
          <p:nvPr/>
        </p:nvPicPr>
        <p:blipFill rotWithShape="1">
          <a:blip r:embed="rId4">
            <a:alphaModFix/>
          </a:blip>
          <a:srcRect b="0" l="0" r="0" t="26487"/>
          <a:stretch/>
        </p:blipFill>
        <p:spPr>
          <a:xfrm>
            <a:off x="5028225" y="1326630"/>
            <a:ext cx="3173800" cy="339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Text </a:t>
            </a:r>
            <a:r>
              <a:rPr b="1" lang="pl" sz="3200"/>
              <a:t>standardization</a:t>
            </a:r>
            <a:endParaRPr b="1" sz="3200"/>
          </a:p>
        </p:txBody>
      </p:sp>
      <p:pic>
        <p:nvPicPr>
          <p:cNvPr id="205" name="Google Shape;20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975" y="1460250"/>
            <a:ext cx="2322129" cy="353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7979" y="1745775"/>
            <a:ext cx="5486146" cy="2763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l" sz="4200"/>
              <a:t>Descriptive Statistics</a:t>
            </a:r>
            <a:endParaRPr b="1" i="1" sz="4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"/>
          <p:cNvSpPr txBox="1"/>
          <p:nvPr>
            <p:ph type="title"/>
          </p:nvPr>
        </p:nvSpPr>
        <p:spPr>
          <a:xfrm>
            <a:off x="1297500" y="393750"/>
            <a:ext cx="73146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Description</a:t>
            </a:r>
            <a:r>
              <a:rPr b="1" lang="pl" sz="3200"/>
              <a:t> of Discrete Variables</a:t>
            </a:r>
            <a:endParaRPr b="1" sz="3200"/>
          </a:p>
        </p:txBody>
      </p:sp>
      <p:pic>
        <p:nvPicPr>
          <p:cNvPr id="217" name="Google Shape;21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00" y="1428749"/>
            <a:ext cx="7939800" cy="179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1663" y="3339724"/>
            <a:ext cx="6022280" cy="161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 txBox="1"/>
          <p:nvPr>
            <p:ph type="title"/>
          </p:nvPr>
        </p:nvSpPr>
        <p:spPr>
          <a:xfrm>
            <a:off x="1297500" y="393750"/>
            <a:ext cx="7694100" cy="11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Outliers Handling </a:t>
            </a:r>
            <a:r>
              <a:rPr i="1" lang="pl" sz="3200"/>
              <a:t>(Detection)</a:t>
            </a:r>
            <a:endParaRPr i="1" sz="3200"/>
          </a:p>
        </p:txBody>
      </p:sp>
      <p:pic>
        <p:nvPicPr>
          <p:cNvPr id="224" name="Google Shape;2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96850"/>
            <a:ext cx="8839199" cy="1718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7896" y="3404196"/>
            <a:ext cx="5148201" cy="157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/>
          <p:nvPr>
            <p:ph type="title"/>
          </p:nvPr>
        </p:nvSpPr>
        <p:spPr>
          <a:xfrm>
            <a:off x="1297500" y="393750"/>
            <a:ext cx="7694100" cy="11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Outliers Handling </a:t>
            </a:r>
            <a:r>
              <a:rPr i="1" lang="pl" sz="3200"/>
              <a:t>(Detection)</a:t>
            </a:r>
            <a:endParaRPr i="1" sz="3200"/>
          </a:p>
        </p:txBody>
      </p:sp>
      <p:pic>
        <p:nvPicPr>
          <p:cNvPr id="231" name="Google Shape;23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9075" y="1467725"/>
            <a:ext cx="6002246" cy="326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 txBox="1"/>
          <p:nvPr>
            <p:ph type="title"/>
          </p:nvPr>
        </p:nvSpPr>
        <p:spPr>
          <a:xfrm>
            <a:off x="1297500" y="393750"/>
            <a:ext cx="7694100" cy="11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Outliers Handling </a:t>
            </a:r>
            <a:r>
              <a:rPr i="1" lang="pl" sz="3200"/>
              <a:t>(Deletion)</a:t>
            </a:r>
            <a:endParaRPr i="1" sz="3200"/>
          </a:p>
        </p:txBody>
      </p:sp>
      <p:pic>
        <p:nvPicPr>
          <p:cNvPr id="237" name="Google Shape;23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5150" y="1606800"/>
            <a:ext cx="4334419" cy="326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/>
          <p:nvPr>
            <p:ph type="title"/>
          </p:nvPr>
        </p:nvSpPr>
        <p:spPr>
          <a:xfrm>
            <a:off x="1297500" y="393750"/>
            <a:ext cx="7694100" cy="11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Visual </a:t>
            </a:r>
            <a:r>
              <a:rPr b="1" lang="pl" sz="3200"/>
              <a:t>Analysis of </a:t>
            </a:r>
            <a:r>
              <a:rPr b="1" lang="pl" sz="3200"/>
              <a:t>Attributes</a:t>
            </a:r>
            <a:endParaRPr i="1" sz="3200"/>
          </a:p>
        </p:txBody>
      </p:sp>
      <p:pic>
        <p:nvPicPr>
          <p:cNvPr id="243" name="Google Shape;24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797" y="1402876"/>
            <a:ext cx="3922510" cy="1688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7616" y="3187192"/>
            <a:ext cx="3922510" cy="1690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0677" y="1402876"/>
            <a:ext cx="3922520" cy="1688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type="title"/>
          </p:nvPr>
        </p:nvSpPr>
        <p:spPr>
          <a:xfrm>
            <a:off x="1297500" y="393750"/>
            <a:ext cx="7694100" cy="11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Visual Analysis of Attributes</a:t>
            </a:r>
            <a:endParaRPr b="1" sz="3200"/>
          </a:p>
        </p:txBody>
      </p:sp>
      <p:pic>
        <p:nvPicPr>
          <p:cNvPr id="251" name="Google Shape;25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0038" y="1308025"/>
            <a:ext cx="3604825" cy="17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9138" y="1308025"/>
            <a:ext cx="3604825" cy="1779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0038" y="3226125"/>
            <a:ext cx="3604825" cy="178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29138" y="3230688"/>
            <a:ext cx="3604825" cy="1779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 txBox="1"/>
          <p:nvPr>
            <p:ph type="title"/>
          </p:nvPr>
        </p:nvSpPr>
        <p:spPr>
          <a:xfrm>
            <a:off x="1297500" y="393750"/>
            <a:ext cx="7694100" cy="11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Visual Analysis of Attributes</a:t>
            </a:r>
            <a:endParaRPr b="1" sz="3200"/>
          </a:p>
        </p:txBody>
      </p:sp>
      <p:pic>
        <p:nvPicPr>
          <p:cNvPr id="260" name="Google Shape;26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625" y="1570900"/>
            <a:ext cx="3129571" cy="1544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627" y="3218472"/>
            <a:ext cx="3121574" cy="1544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1766" y="1571550"/>
            <a:ext cx="2959259" cy="319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/>
          <p:cNvSpPr txBox="1"/>
          <p:nvPr>
            <p:ph type="title"/>
          </p:nvPr>
        </p:nvSpPr>
        <p:spPr>
          <a:xfrm>
            <a:off x="1297500" y="393750"/>
            <a:ext cx="7694100" cy="11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Pearson Correlation for Integers</a:t>
            </a:r>
            <a:endParaRPr i="1" sz="3200"/>
          </a:p>
        </p:txBody>
      </p:sp>
      <p:pic>
        <p:nvPicPr>
          <p:cNvPr id="268" name="Google Shape;26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9950" y="1571550"/>
            <a:ext cx="4217593" cy="326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/>
          <p:nvPr>
            <p:ph type="title"/>
          </p:nvPr>
        </p:nvSpPr>
        <p:spPr>
          <a:xfrm>
            <a:off x="1297500" y="393750"/>
            <a:ext cx="7694100" cy="11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Pearson Correlation for Targets</a:t>
            </a:r>
            <a:endParaRPr i="1" sz="3200"/>
          </a:p>
        </p:txBody>
      </p:sp>
      <p:pic>
        <p:nvPicPr>
          <p:cNvPr id="274" name="Google Shape;27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975" y="1381200"/>
            <a:ext cx="7189102" cy="3571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l" sz="4200"/>
              <a:t>Hypothesis testing</a:t>
            </a:r>
            <a:endParaRPr b="1" i="1" sz="4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One-Sample T-test for the population mean</a:t>
            </a:r>
            <a:endParaRPr b="1" sz="3200"/>
          </a:p>
        </p:txBody>
      </p:sp>
      <p:pic>
        <p:nvPicPr>
          <p:cNvPr id="285" name="Google Shape;28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650" y="1628326"/>
            <a:ext cx="7800700" cy="98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6650" y="2717001"/>
            <a:ext cx="6668549" cy="222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One-Sample T-test for the population mean</a:t>
            </a:r>
            <a:endParaRPr b="1" sz="3200"/>
          </a:p>
        </p:txBody>
      </p:sp>
      <p:pic>
        <p:nvPicPr>
          <p:cNvPr id="292" name="Google Shape;29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5700" y="2428175"/>
            <a:ext cx="5179724" cy="222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2300" y="1653975"/>
            <a:ext cx="5362575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One-Sample T-test for the population mean</a:t>
            </a:r>
            <a:endParaRPr b="1" sz="3200"/>
          </a:p>
        </p:txBody>
      </p:sp>
      <p:pic>
        <p:nvPicPr>
          <p:cNvPr id="299" name="Google Shape;29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124" y="1384700"/>
            <a:ext cx="6036875" cy="164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8997" y="3029825"/>
            <a:ext cx="6146024" cy="205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One-Sample T-test for the population proportion</a:t>
            </a:r>
            <a:endParaRPr b="1" sz="3200"/>
          </a:p>
        </p:txBody>
      </p:sp>
      <p:pic>
        <p:nvPicPr>
          <p:cNvPr id="306" name="Google Shape;30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4250" y="1307850"/>
            <a:ext cx="4901700" cy="124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991" y="2646425"/>
            <a:ext cx="7314800" cy="23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0"/>
          <p:cNvSpPr txBox="1"/>
          <p:nvPr>
            <p:ph type="title"/>
          </p:nvPr>
        </p:nvSpPr>
        <p:spPr>
          <a:xfrm>
            <a:off x="1297500" y="393750"/>
            <a:ext cx="77685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Hypothesis testing for correlation</a:t>
            </a:r>
            <a:endParaRPr b="1" sz="3200"/>
          </a:p>
        </p:txBody>
      </p:sp>
      <p:pic>
        <p:nvPicPr>
          <p:cNvPr id="313" name="Google Shape;31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867" y="1556774"/>
            <a:ext cx="8160271" cy="28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1"/>
          <p:cNvSpPr txBox="1"/>
          <p:nvPr>
            <p:ph type="title"/>
          </p:nvPr>
        </p:nvSpPr>
        <p:spPr>
          <a:xfrm>
            <a:off x="1297500" y="393750"/>
            <a:ext cx="77538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Hypothesis testing for correlation</a:t>
            </a:r>
            <a:endParaRPr b="1" sz="3200"/>
          </a:p>
        </p:txBody>
      </p:sp>
      <p:pic>
        <p:nvPicPr>
          <p:cNvPr id="319" name="Google Shape;31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650" y="1307850"/>
            <a:ext cx="7477483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2"/>
          <p:cNvSpPr txBox="1"/>
          <p:nvPr>
            <p:ph type="title"/>
          </p:nvPr>
        </p:nvSpPr>
        <p:spPr>
          <a:xfrm>
            <a:off x="1297500" y="393750"/>
            <a:ext cx="77538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Hypothesis testing for correlation</a:t>
            </a:r>
            <a:endParaRPr b="1" sz="3200"/>
          </a:p>
        </p:txBody>
      </p:sp>
      <p:pic>
        <p:nvPicPr>
          <p:cNvPr id="325" name="Google Shape;32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02713"/>
            <a:ext cx="8839201" cy="2582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"/>
          <p:cNvSpPr txBox="1"/>
          <p:nvPr>
            <p:ph type="title"/>
          </p:nvPr>
        </p:nvSpPr>
        <p:spPr>
          <a:xfrm>
            <a:off x="1297500" y="393750"/>
            <a:ext cx="77538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Equality of two population proportions</a:t>
            </a:r>
            <a:endParaRPr b="1" sz="3200"/>
          </a:p>
        </p:txBody>
      </p:sp>
      <p:pic>
        <p:nvPicPr>
          <p:cNvPr id="331" name="Google Shape;33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288" y="1772600"/>
            <a:ext cx="8431424" cy="26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4"/>
          <p:cNvSpPr txBox="1"/>
          <p:nvPr>
            <p:ph type="title"/>
          </p:nvPr>
        </p:nvSpPr>
        <p:spPr>
          <a:xfrm>
            <a:off x="1297500" y="393750"/>
            <a:ext cx="77538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Equality of two population proportions</a:t>
            </a:r>
            <a:endParaRPr b="1" sz="3200"/>
          </a:p>
        </p:txBody>
      </p:sp>
      <p:pic>
        <p:nvPicPr>
          <p:cNvPr id="337" name="Google Shape;33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175" y="1569400"/>
            <a:ext cx="8488875" cy="26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Chi-Square goodness-of-fit test</a:t>
            </a:r>
            <a:endParaRPr b="1" sz="3200"/>
          </a:p>
        </p:txBody>
      </p:sp>
      <p:pic>
        <p:nvPicPr>
          <p:cNvPr id="343" name="Google Shape;34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52" y="1760068"/>
            <a:ext cx="7315101" cy="2418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Chi-Square goodness-of-fit test</a:t>
            </a:r>
            <a:endParaRPr b="1" sz="3200"/>
          </a:p>
        </p:txBody>
      </p:sp>
      <p:pic>
        <p:nvPicPr>
          <p:cNvPr id="349" name="Google Shape;34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7888" y="1703350"/>
            <a:ext cx="6728226" cy="295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7"/>
          <p:cNvSpPr txBox="1"/>
          <p:nvPr>
            <p:ph type="title"/>
          </p:nvPr>
        </p:nvSpPr>
        <p:spPr>
          <a:xfrm>
            <a:off x="1297500" y="393750"/>
            <a:ext cx="75414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Chi-Square test of independence</a:t>
            </a:r>
            <a:endParaRPr b="1" sz="3200"/>
          </a:p>
        </p:txBody>
      </p:sp>
      <p:pic>
        <p:nvPicPr>
          <p:cNvPr id="355" name="Google Shape;35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575" y="1555425"/>
            <a:ext cx="7610475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8"/>
          <p:cNvSpPr txBox="1"/>
          <p:nvPr>
            <p:ph type="title"/>
          </p:nvPr>
        </p:nvSpPr>
        <p:spPr>
          <a:xfrm>
            <a:off x="1297500" y="393750"/>
            <a:ext cx="75414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Chi-Square test of independence</a:t>
            </a:r>
            <a:endParaRPr b="1" sz="3200"/>
          </a:p>
        </p:txBody>
      </p:sp>
      <p:pic>
        <p:nvPicPr>
          <p:cNvPr id="361" name="Google Shape;36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84700"/>
            <a:ext cx="8839200" cy="2587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9"/>
          <p:cNvSpPr txBox="1"/>
          <p:nvPr>
            <p:ph type="title"/>
          </p:nvPr>
        </p:nvSpPr>
        <p:spPr>
          <a:xfrm>
            <a:off x="1297500" y="393750"/>
            <a:ext cx="75414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Chi-Square test of independence</a:t>
            </a:r>
            <a:endParaRPr b="1" sz="3200"/>
          </a:p>
        </p:txBody>
      </p:sp>
      <p:pic>
        <p:nvPicPr>
          <p:cNvPr id="367" name="Google Shape;36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800" y="1307850"/>
            <a:ext cx="3530850" cy="353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7425" y="1382588"/>
            <a:ext cx="3990975" cy="338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0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l" sz="4200"/>
              <a:t>Linear Regression</a:t>
            </a:r>
            <a:endParaRPr b="1" i="1" sz="42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Single</a:t>
            </a:r>
            <a:r>
              <a:rPr b="1" lang="pl" sz="3200"/>
              <a:t>-Variable Regression</a:t>
            </a:r>
            <a:endParaRPr b="1" sz="3200"/>
          </a:p>
        </p:txBody>
      </p:sp>
      <p:pic>
        <p:nvPicPr>
          <p:cNvPr id="379" name="Google Shape;37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288" y="1307850"/>
            <a:ext cx="4460360" cy="353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3935" y="1519525"/>
            <a:ext cx="2637775" cy="310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Multi-Variable Regression</a:t>
            </a:r>
            <a:endParaRPr b="1" sz="3200"/>
          </a:p>
        </p:txBody>
      </p:sp>
      <p:pic>
        <p:nvPicPr>
          <p:cNvPr id="386" name="Google Shape;38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0575" y="2108325"/>
            <a:ext cx="3584049" cy="264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225" y="1418900"/>
            <a:ext cx="3847325" cy="3330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1325" y="1418894"/>
            <a:ext cx="3922550" cy="628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Multi-Variable Regression</a:t>
            </a:r>
            <a:endParaRPr b="1" sz="3200"/>
          </a:p>
        </p:txBody>
      </p:sp>
      <p:pic>
        <p:nvPicPr>
          <p:cNvPr id="394" name="Google Shape;39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775" y="1307850"/>
            <a:ext cx="4460360" cy="353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8597" y="1641925"/>
            <a:ext cx="2477800" cy="286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l" sz="4200"/>
              <a:t>Logistic Regression</a:t>
            </a:r>
            <a:endParaRPr b="1" i="1" sz="42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Confusion Matrix &amp; AUC</a:t>
            </a:r>
            <a:endParaRPr b="1" sz="3200"/>
          </a:p>
        </p:txBody>
      </p:sp>
      <p:pic>
        <p:nvPicPr>
          <p:cNvPr id="406" name="Google Shape;40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350" y="1364350"/>
            <a:ext cx="4089709" cy="3319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1423" y="1364350"/>
            <a:ext cx="4193777" cy="3319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Statistics</a:t>
            </a:r>
            <a:endParaRPr b="1" sz="3200"/>
          </a:p>
        </p:txBody>
      </p:sp>
      <p:pic>
        <p:nvPicPr>
          <p:cNvPr id="413" name="Google Shape;41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4013" y="1571625"/>
            <a:ext cx="5895975" cy="20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New User Prediction</a:t>
            </a:r>
            <a:endParaRPr b="1" sz="3200"/>
          </a:p>
        </p:txBody>
      </p:sp>
      <p:pic>
        <p:nvPicPr>
          <p:cNvPr id="419" name="Google Shape;41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7511" y="1307850"/>
            <a:ext cx="4728975" cy="198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7488" y="3027011"/>
            <a:ext cx="4728975" cy="1988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8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l" sz="4200"/>
              <a:t>Decision Trees</a:t>
            </a:r>
            <a:endParaRPr b="1" i="1" sz="42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9"/>
          <p:cNvSpPr txBox="1"/>
          <p:nvPr>
            <p:ph type="title"/>
          </p:nvPr>
        </p:nvSpPr>
        <p:spPr>
          <a:xfrm>
            <a:off x="1297500" y="393750"/>
            <a:ext cx="78051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800"/>
              <a:t>Decision Trees - Hyperparameter Tuning</a:t>
            </a:r>
            <a:endParaRPr b="1" sz="2800"/>
          </a:p>
        </p:txBody>
      </p:sp>
      <p:pic>
        <p:nvPicPr>
          <p:cNvPr id="431" name="Google Shape;43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3206435" cy="353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1235" y="1460250"/>
            <a:ext cx="5480365" cy="2712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0"/>
          <p:cNvSpPr txBox="1"/>
          <p:nvPr>
            <p:ph type="title"/>
          </p:nvPr>
        </p:nvSpPr>
        <p:spPr>
          <a:xfrm>
            <a:off x="1297500" y="393750"/>
            <a:ext cx="77466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700"/>
              <a:t>Decision Trees - Cross-Validation &amp; Rules</a:t>
            </a:r>
            <a:endParaRPr b="1" sz="2700"/>
          </a:p>
        </p:txBody>
      </p:sp>
      <p:pic>
        <p:nvPicPr>
          <p:cNvPr id="438" name="Google Shape;43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38275"/>
            <a:ext cx="3144478" cy="226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7075" y="1338275"/>
            <a:ext cx="3099725" cy="226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30300" y="1938323"/>
            <a:ext cx="2190675" cy="2620675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60"/>
          <p:cNvSpPr/>
          <p:nvPr/>
        </p:nvSpPr>
        <p:spPr>
          <a:xfrm>
            <a:off x="2696450" y="3717350"/>
            <a:ext cx="1005300" cy="4989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2" name="Google Shape;442;p60"/>
          <p:cNvSpPr/>
          <p:nvPr/>
        </p:nvSpPr>
        <p:spPr>
          <a:xfrm rot="5400000">
            <a:off x="6458350" y="1338900"/>
            <a:ext cx="561000" cy="4989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Decision Tree</a:t>
            </a:r>
            <a:endParaRPr b="1" sz="3200"/>
          </a:p>
        </p:txBody>
      </p:sp>
      <p:pic>
        <p:nvPicPr>
          <p:cNvPr id="448" name="Google Shape;44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8839203" cy="2908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l"/>
              <a:t>Clusters: K-Means &amp; K-Medoid</a:t>
            </a:r>
            <a:endParaRPr b="1" i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3"/>
          <p:cNvSpPr txBox="1"/>
          <p:nvPr>
            <p:ph type="title"/>
          </p:nvPr>
        </p:nvSpPr>
        <p:spPr>
          <a:xfrm>
            <a:off x="5470075" y="708550"/>
            <a:ext cx="3397800" cy="12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3200"/>
              <a:t>Customer Segmentation - Choosing K</a:t>
            </a:r>
            <a:endParaRPr b="1" sz="3200"/>
          </a:p>
        </p:txBody>
      </p:sp>
      <p:pic>
        <p:nvPicPr>
          <p:cNvPr id="459" name="Google Shape;45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9125" y="2634107"/>
            <a:ext cx="5064874" cy="250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5064874" cy="2509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63"/>
          <p:cNvSpPr/>
          <p:nvPr/>
        </p:nvSpPr>
        <p:spPr>
          <a:xfrm flipH="1" rot="10800000">
            <a:off x="3101655" y="2571748"/>
            <a:ext cx="919200" cy="857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4"/>
          <p:cNvSpPr txBox="1"/>
          <p:nvPr>
            <p:ph type="title"/>
          </p:nvPr>
        </p:nvSpPr>
        <p:spPr>
          <a:xfrm>
            <a:off x="1282875" y="2546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K-Means vs K-Medoids</a:t>
            </a:r>
            <a:endParaRPr b="1" sz="3200"/>
          </a:p>
        </p:txBody>
      </p:sp>
      <p:sp>
        <p:nvSpPr>
          <p:cNvPr id="467" name="Google Shape;467;p64"/>
          <p:cNvSpPr/>
          <p:nvPr/>
        </p:nvSpPr>
        <p:spPr>
          <a:xfrm>
            <a:off x="3982325" y="1103350"/>
            <a:ext cx="701400" cy="6477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8" name="Google Shape;468;p64"/>
          <p:cNvSpPr/>
          <p:nvPr/>
        </p:nvSpPr>
        <p:spPr>
          <a:xfrm flipH="1" rot="10800000">
            <a:off x="4828300" y="4161575"/>
            <a:ext cx="701400" cy="7299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69" name="Google Shape;46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900" y="1799357"/>
            <a:ext cx="4300100" cy="3000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0924" y="1044500"/>
            <a:ext cx="4238901" cy="29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2100" y="4154275"/>
            <a:ext cx="2836398" cy="83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200"/>
              <a:t>References</a:t>
            </a:r>
            <a:endParaRPr b="1" sz="3200"/>
          </a:p>
        </p:txBody>
      </p:sp>
      <p:sp>
        <p:nvSpPr>
          <p:cNvPr id="477" name="Google Shape;477;p6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Project’s Github Link - </a:t>
            </a:r>
            <a:r>
              <a:rPr lang="pl" u="sng">
                <a:solidFill>
                  <a:schemeClr val="hlink"/>
                </a:solidFill>
                <a:hlinkClick r:id="rId3"/>
              </a:rPr>
              <a:t>https://github.com/michalmatysik6/Data_Science---Winter-school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Dataset ”Netflix Customer Churn &amp; Engagement Analytics” on Kaggle - </a:t>
            </a:r>
            <a:r>
              <a:rPr lang="pl" u="sng">
                <a:solidFill>
                  <a:schemeClr val="hlink"/>
                </a:solidFill>
                <a:hlinkClick r:id="rId4"/>
              </a:rPr>
              <a:t>https://www.kaggle.com/datasets/zeyadmohamed26/netflix-customer-churn-and-engagement-analytics/data</a:t>
            </a:r>
            <a:r>
              <a:rPr lang="pl"/>
              <a:t> (Last Reviewed : October 8th 2026)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